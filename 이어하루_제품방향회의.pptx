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완성된 기획을 발표하는 자리가 아니라, 제품 방향을 정하는 회의입니다. 기능 설명은 하지 않고 방향만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문제는 계획 수립이 아니라 시작·지속·복귀입니다. 네 가지 문제를 짚고, 마지막 한 문장으로 문제 정의를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기존안이 틀렸다는 식으로 말하지 않습니다. 기존 Recovery 철학은 그대로 두고, 행동 실행 영역을 앞뒤로 확장하는 "확장안"으로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텍스트는 거의 없앱니다. 제품의 모든 기능은 이 흐름으로 판단한다는 점만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하나가 아니라 네 기능이 연결되는 구조가 차별점입니다. 여기서만 기능을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하나의 운동 루틴만 보여줍니다. 이 슬라이드 하나에서 알림 → Chain → Fallback → Recovery를 전부 이해시켜야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 합의된 것과 새로 논의할 것을 섞지 않고 보여줘야 팀원들이 "이게 이미 합의된 건가?" 헷갈리지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발표의 목적은 여기입니다. 회의 끝에 합의가 필요한 다섯 가지를 정하고, 다음 단계에서 요구사항 명세서를 작성합니다.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F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486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A0D12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방향 회의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이어하루</a:t>
            </a:r>
            <a:endParaRPr lang="en-US" sz="9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3F5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계획을 기록하는 앱에서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행동을 이어주는 앱으로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3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때 시작하고,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3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시작한 행동은 다음 행동으로 이어주며,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3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끊겨도 다시 연결합니다.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5760720"/>
            <a:ext cx="3108960" cy="420624"/>
          </a:xfrm>
          <a:prstGeom prst="roundRect">
            <a:avLst>
              <a:gd name="adj" fmla="val 50000"/>
            </a:avLst>
          </a:prstGeom>
          <a:solidFill>
            <a:srgbClr val="0A0D12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처음부터가 아니라, 이어서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 rot="-360000">
            <a:off x="7452360" y="731520"/>
            <a:ext cx="4114800" cy="1115568"/>
          </a:xfrm>
          <a:prstGeom prst="roundRect">
            <a:avLst>
              <a:gd name="adj" fmla="val 14754"/>
            </a:avLst>
          </a:prstGeom>
          <a:solidFill>
            <a:srgbClr val="0A0D12"/>
          </a:solidFill>
          <a:ln/>
        </p:spPr>
        <p:txBody>
          <a:bodyPr wrap="square" lIns="228600" tIns="228600" rIns="228600" bIns="228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CUE → ACTION</a:t>
            </a:r>
            <a:endParaRPr lang="en-US" sz="10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시작하게 하고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 rot="-360000">
            <a:off x="7863840" y="2103120"/>
            <a:ext cx="4114800" cy="1115568"/>
          </a:xfrm>
          <a:prstGeom prst="roundRect">
            <a:avLst>
              <a:gd name="adj" fmla="val 14754"/>
            </a:avLst>
          </a:prstGeom>
          <a:solidFill>
            <a:srgbClr val="0A0D12"/>
          </a:solidFill>
          <a:ln/>
        </p:spPr>
        <p:txBody>
          <a:bodyPr wrap="square" lIns="228600" tIns="228600" rIns="228600" bIns="228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</a:t>
            </a:r>
            <a:endParaRPr lang="en-US" sz="10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이어주고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 rot="-360000">
            <a:off x="7452360" y="3474720"/>
            <a:ext cx="4114800" cy="1115568"/>
          </a:xfrm>
          <a:prstGeom prst="roundRect">
            <a:avLst>
              <a:gd name="adj" fmla="val 14754"/>
            </a:avLst>
          </a:prstGeom>
          <a:solidFill>
            <a:srgbClr val="0A0D12"/>
          </a:solidFill>
          <a:ln/>
        </p:spPr>
        <p:txBody>
          <a:bodyPr wrap="square" lIns="228600" tIns="228600" rIns="228600" bIns="228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</a:t>
            </a:r>
            <a:endParaRPr lang="en-US" sz="10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어려우면 바꾸고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 rot="-360000">
            <a:off x="7863840" y="4846320"/>
            <a:ext cx="4114800" cy="1115568"/>
          </a:xfrm>
          <a:prstGeom prst="roundRect">
            <a:avLst>
              <a:gd name="adj" fmla="val 14754"/>
            </a:avLst>
          </a:prstGeom>
          <a:solidFill>
            <a:srgbClr val="0A0D12"/>
          </a:solidFill>
          <a:ln/>
        </p:spPr>
        <p:txBody>
          <a:bodyPr wrap="square" lIns="228600" tIns="228600" rIns="228600" bIns="228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</a:t>
            </a:r>
            <a:endParaRPr lang="en-US" sz="10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끊기면 다시 연결한다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이어하루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6382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계획보다 어려운 건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행동하는 것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해결하려는 것은 계획 관리가 아니라 행동의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시작·지속·복귀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5715000" y="548640"/>
            <a:ext cx="2850185" cy="2606040"/>
          </a:xfrm>
          <a:prstGeom prst="roundRect">
            <a:avLst>
              <a:gd name="adj" fmla="val 6316"/>
            </a:avLst>
          </a:prstGeom>
          <a:solidFill>
            <a:srgbClr val="141820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0" y="777240"/>
            <a:ext cx="530352" cy="530352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6188" y="909828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87945" y="822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1508760"/>
            <a:ext cx="23929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알림을 받아도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행동하지 않는다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2286000"/>
            <a:ext cx="23929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한다는 사실을 아는 것과 실제로 시작하는 것은 다르다.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793785" y="548640"/>
            <a:ext cx="2850185" cy="2606040"/>
          </a:xfrm>
          <a:prstGeom prst="roundRect">
            <a:avLst>
              <a:gd name="adj" fmla="val 6316"/>
            </a:avLst>
          </a:prstGeom>
          <a:solidFill>
            <a:srgbClr val="141820"/>
          </a:solidFill>
          <a:ln/>
        </p:spPr>
      </p:sp>
      <p:sp>
        <p:nvSpPr>
          <p:cNvPr id="15" name="Shape 11"/>
          <p:cNvSpPr/>
          <p:nvPr/>
        </p:nvSpPr>
        <p:spPr>
          <a:xfrm>
            <a:off x="9022385" y="777240"/>
            <a:ext cx="530352" cy="530352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973" y="90982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866730" y="822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9022385" y="1508760"/>
            <a:ext cx="23929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행동 이후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행동이 끊긴다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9022385" y="2286000"/>
            <a:ext cx="23929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“이제 무엇을 하지?”를 다시 결정해야 한다.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715000" y="3383280"/>
            <a:ext cx="2850185" cy="2606040"/>
          </a:xfrm>
          <a:prstGeom prst="roundRect">
            <a:avLst>
              <a:gd name="adj" fmla="val 6316"/>
            </a:avLst>
          </a:prstGeom>
          <a:solidFill>
            <a:srgbClr val="141820"/>
          </a:solidFill>
          <a:ln/>
        </p:spPr>
      </p:sp>
      <p:sp>
        <p:nvSpPr>
          <p:cNvPr id="21" name="Shape 16"/>
          <p:cNvSpPr/>
          <p:nvPr/>
        </p:nvSpPr>
        <p:spPr>
          <a:xfrm>
            <a:off x="5943600" y="3611880"/>
            <a:ext cx="530352" cy="530352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188" y="3744468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87945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943600" y="4343400"/>
            <a:ext cx="23929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현실은 계획대로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움직이지 않는다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943600" y="5120640"/>
            <a:ext cx="23929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앱은 완료/미완료라는 선택에 지나치게 의존한다.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793785" y="3383280"/>
            <a:ext cx="2850185" cy="2606040"/>
          </a:xfrm>
          <a:prstGeom prst="roundRect">
            <a:avLst>
              <a:gd name="adj" fmla="val 6316"/>
            </a:avLst>
          </a:prstGeom>
          <a:solidFill>
            <a:srgbClr val="1B2029"/>
          </a:solidFill>
          <a:ln w="12700">
            <a:solidFill>
              <a:srgbClr val="CEF55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022385" y="3611880"/>
            <a:ext cx="530352" cy="530352"/>
          </a:xfrm>
          <a:prstGeom prst="ellipse">
            <a:avLst/>
          </a:prstGeom>
          <a:solidFill>
            <a:srgbClr val="14182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4973" y="3744468"/>
            <a:ext cx="265176" cy="26517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86673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9022385" y="4343400"/>
            <a:ext cx="23929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놓치면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돌아오기 어렵다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022385" y="5120640"/>
            <a:ext cx="23929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기획(Recovery)이 다뤄온 문제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이어하루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6382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기획 vs 현재 제안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기획의 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철학은 유지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실행 영역을 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앞뒤로 확장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4160520" cy="3611880"/>
          </a:xfrm>
          <a:prstGeom prst="roundRect">
            <a:avLst>
              <a:gd name="adj" fmla="val 4557"/>
            </a:avLst>
          </a:prstGeom>
          <a:solidFill>
            <a:srgbClr val="14182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6060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기획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815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무너진 뒤 다시 세우는 앱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65760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B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376" y="373989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84832" y="365760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373989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46704" y="365760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복귀율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22960" y="4297680"/>
            <a:ext cx="3611880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43799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행동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4700016"/>
            <a:ext cx="3611880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22960" y="4782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결손 후 다음 기회에 개입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2960" y="5102352"/>
            <a:ext cx="3611880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51846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스트릭 0 리셋 없음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22960" y="5504688"/>
            <a:ext cx="3611880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5869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복귀율 중심 통계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809744" y="3963924"/>
            <a:ext cx="347472" cy="347472"/>
          </a:xfrm>
          <a:prstGeom prst="ellipse">
            <a:avLst/>
          </a:prstGeom>
          <a:solidFill>
            <a:srgbClr val="CEF55A"/>
          </a:solidFill>
          <a:ln w="38100">
            <a:solidFill>
              <a:srgbClr val="0A0D1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46220"/>
            <a:ext cx="182880" cy="1828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257800" y="2331720"/>
            <a:ext cx="6382512" cy="3611880"/>
          </a:xfrm>
          <a:prstGeom prst="roundRect">
            <a:avLst>
              <a:gd name="adj" fmla="val 4557"/>
            </a:avLst>
          </a:prstGeom>
          <a:solidFill>
            <a:srgbClr val="1B2029"/>
          </a:solidFill>
          <a:ln w="12700">
            <a:solidFill>
              <a:srgbClr val="CEF55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532120" y="2606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제안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8805672" y="2642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확장    </a:t>
            </a:r>
            <a:pPr algn="r" indent="0" marL="0">
              <a:buNone/>
            </a:pPr>
            <a:r>
              <a:rPr lang="en-US" sz="1050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유지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5532120" y="3081528"/>
            <a:ext cx="583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전체 흐름을 이어주는 앱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5532120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Cue</a:t>
            </a:r>
            <a:endParaRPr lang="en-US" sz="11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70332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23760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3703320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15400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532120" y="41148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12700">
            <a:solidFill>
              <a:srgbClr val="CEF5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</a:t>
            </a:r>
            <a:endParaRPr lang="en-US" sz="11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4206240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223760" y="41148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12700">
            <a:solidFill>
              <a:srgbClr val="CEF5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</a:t>
            </a:r>
            <a:endParaRPr lang="en-US" sz="11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4206240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915400" y="41148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Adaptation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5532120" y="4709160"/>
            <a:ext cx="583387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5532120" y="4791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시작</a:t>
            </a:r>
            <a:endParaRPr lang="en-US" sz="1250" dirty="0"/>
          </a:p>
        </p:txBody>
      </p:sp>
      <p:sp>
        <p:nvSpPr>
          <p:cNvPr id="41" name="Text 31"/>
          <p:cNvSpPr txBox="1"/>
          <p:nvPr/>
        </p:nvSpPr>
        <p:spPr>
          <a:xfrm>
            <a:off x="8458200" y="4791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 연결</a:t>
            </a:r>
            <a:endParaRPr lang="en-US" sz="1250" dirty="0"/>
          </a:p>
        </p:txBody>
      </p:sp>
      <p:sp>
        <p:nvSpPr>
          <p:cNvPr id="42" name="Shape 32"/>
          <p:cNvSpPr/>
          <p:nvPr/>
        </p:nvSpPr>
        <p:spPr>
          <a:xfrm>
            <a:off x="5532120" y="5111496"/>
            <a:ext cx="583387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553212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상황에 맞는 대안</a:t>
            </a:r>
            <a:endParaRPr lang="en-US" sz="1250" dirty="0"/>
          </a:p>
        </p:txBody>
      </p:sp>
      <p:sp>
        <p:nvSpPr>
          <p:cNvPr id="44" name="Text 34"/>
          <p:cNvSpPr txBox="1"/>
          <p:nvPr/>
        </p:nvSpPr>
        <p:spPr>
          <a:xfrm>
            <a:off x="845820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</a:t>
            </a:r>
            <a:endParaRPr lang="en-US" sz="1250" dirty="0"/>
          </a:p>
        </p:txBody>
      </p:sp>
      <p:sp>
        <p:nvSpPr>
          <p:cNvPr id="45" name="Shape 35"/>
          <p:cNvSpPr/>
          <p:nvPr/>
        </p:nvSpPr>
        <p:spPr>
          <a:xfrm>
            <a:off x="5532120" y="5513832"/>
            <a:ext cx="583387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553212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문제 발생 시 계획 조정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이어하루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6382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제품 경험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32104" y="2148840"/>
            <a:ext cx="0" cy="548640"/>
          </a:xfrm>
          <a:prstGeom prst="line">
            <a:avLst/>
          </a:prstGeom>
          <a:noFill/>
          <a:ln w="19050">
            <a:solidFill>
              <a:srgbClr val="3A424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9621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146304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하고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172200" y="168249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CUE → ACTION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32104" y="3337560"/>
            <a:ext cx="0" cy="548640"/>
          </a:xfrm>
          <a:prstGeom prst="line">
            <a:avLst/>
          </a:prstGeom>
          <a:noFill/>
          <a:ln w="19050">
            <a:solidFill>
              <a:srgbClr val="3A424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88493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265176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주고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6172200" y="287121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32104" y="4526280"/>
            <a:ext cx="0" cy="548640"/>
          </a:xfrm>
          <a:prstGeom prst="line">
            <a:avLst/>
          </a:prstGeom>
          <a:noFill/>
          <a:ln w="19050">
            <a:solidFill>
              <a:srgbClr val="3A424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3931920"/>
            <a:ext cx="566928" cy="566928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07365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384048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어려우면 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바꾸고</a:t>
            </a:r>
            <a:endParaRPr lang="en-US" sz="3000" dirty="0"/>
          </a:p>
        </p:txBody>
      </p:sp>
      <p:sp>
        <p:nvSpPr>
          <p:cNvPr id="20" name="Text 14"/>
          <p:cNvSpPr/>
          <p:nvPr/>
        </p:nvSpPr>
        <p:spPr>
          <a:xfrm>
            <a:off x="6172200" y="405993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5262372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02920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끊기면 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연결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3000" dirty="0"/>
          </a:p>
        </p:txBody>
      </p:sp>
      <p:sp>
        <p:nvSpPr>
          <p:cNvPr id="24" name="Text 17"/>
          <p:cNvSpPr/>
          <p:nvPr/>
        </p:nvSpPr>
        <p:spPr>
          <a:xfrm>
            <a:off x="6172200" y="524865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275320" y="1371600"/>
            <a:ext cx="3364992" cy="4480560"/>
          </a:xfrm>
          <a:prstGeom prst="roundRect">
            <a:avLst>
              <a:gd name="adj" fmla="val 4891"/>
            </a:avLst>
          </a:prstGeom>
          <a:solidFill>
            <a:srgbClr val="141820"/>
          </a:solidFill>
          <a:ln/>
        </p:spPr>
      </p:sp>
      <p:sp>
        <p:nvSpPr>
          <p:cNvPr id="26" name="Text 19"/>
          <p:cNvSpPr/>
          <p:nvPr/>
        </p:nvSpPr>
        <p:spPr>
          <a:xfrm>
            <a:off x="8549640" y="1645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12700">
            <a:solidFill>
              <a:srgbClr val="CEF5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ADAPTATION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8549640" y="2240280"/>
            <a:ext cx="566928" cy="566928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1372" y="2382012"/>
            <a:ext cx="283464" cy="28346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549640" y="297180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같은 지점에서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끊긴다면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8549640" y="3657600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자체를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</a:t>
            </a:r>
            <a:endParaRPr lang="en-US" sz="2800" dirty="0"/>
          </a:p>
        </p:txBody>
      </p:sp>
      <p:sp>
        <p:nvSpPr>
          <p:cNvPr id="31" name="Shape 23"/>
          <p:cNvSpPr/>
          <p:nvPr/>
        </p:nvSpPr>
        <p:spPr>
          <a:xfrm>
            <a:off x="8549640" y="4892040"/>
            <a:ext cx="281635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8549640" y="5047488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제품의 모든 기능은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흐름으로 판단합니다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이어하루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6382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차별 기능 4개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하나가 아니라, 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기능이 연결되는 구조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차별점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1468" cy="4160520"/>
          </a:xfrm>
          <a:prstGeom prst="roundRect">
            <a:avLst>
              <a:gd name="adj" fmla="val 6327"/>
            </a:avLst>
          </a:prstGeom>
          <a:solidFill>
            <a:srgbClr val="14182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" y="2048256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Actionable Notification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331720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선택 알림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9808" y="5230368"/>
            <a:ext cx="219913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5321808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알림을 정보가 아니라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선택 인터페이스로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49808" y="2971800"/>
            <a:ext cx="2199132" cy="457200"/>
          </a:xfrm>
          <a:prstGeom prst="roundRect">
            <a:avLst>
              <a:gd name="adj" fmla="val 24000"/>
            </a:avLst>
          </a:prstGeom>
          <a:solidFill>
            <a:srgbClr val="1B2029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trike="sngStrike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운동할 시간이에요.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934" y="347472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3730752"/>
            <a:ext cx="2199132" cy="548640"/>
          </a:xfrm>
          <a:prstGeom prst="roundRect">
            <a:avLst>
              <a:gd name="adj" fmla="val 20000"/>
            </a:avLst>
          </a:prstGeom>
          <a:solidFill>
            <a:srgbClr val="1B2029"/>
          </a:solidFill>
          <a:ln w="12700">
            <a:solidFill>
              <a:srgbClr val="CEF55A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어떻게 할까요?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49808" y="4407408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그대로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883664" y="4407408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49808" y="4754880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홈트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883664" y="4754880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091129" y="2340864"/>
            <a:ext cx="347472" cy="347472"/>
          </a:xfrm>
          <a:prstGeom prst="ellipse">
            <a:avLst/>
          </a:prstGeom>
          <a:solidFill>
            <a:srgbClr val="CEF55A"/>
          </a:solidFill>
          <a:ln w="38100">
            <a:solidFill>
              <a:srgbClr val="0A0D1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425" y="2423160"/>
            <a:ext cx="182880" cy="1828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379622" y="1828800"/>
            <a:ext cx="2601468" cy="4160520"/>
          </a:xfrm>
          <a:prstGeom prst="roundRect">
            <a:avLst>
              <a:gd name="adj" fmla="val 6327"/>
            </a:avLst>
          </a:prstGeom>
          <a:solidFill>
            <a:srgbClr val="14182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580790" y="2048256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Action Chain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3580790" y="2331720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연결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3580790" y="5230368"/>
            <a:ext cx="219913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580790" y="5321808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행동 완료가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행동의 Cue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3580790" y="2971800"/>
            <a:ext cx="2199132" cy="457200"/>
          </a:xfrm>
          <a:prstGeom prst="roundRect">
            <a:avLst>
              <a:gd name="adj" fmla="val 24000"/>
            </a:avLst>
          </a:prstGeom>
          <a:solidFill>
            <a:srgbClr val="1B2029"/>
          </a:solidFill>
          <a:ln/>
        </p:spPr>
        <p:txBody>
          <a:bodyPr wrap="square" lIns="114300" tIns="114300" rIns="114300" bIns="1143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 완료</a:t>
            </a:r>
            <a:endParaRPr lang="en-US" sz="12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916" y="3474720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580790" y="3730752"/>
            <a:ext cx="2199132" cy="548640"/>
          </a:xfrm>
          <a:prstGeom prst="roundRect">
            <a:avLst>
              <a:gd name="adj" fmla="val 20000"/>
            </a:avLst>
          </a:prstGeom>
          <a:solidFill>
            <a:srgbClr val="CEF55A"/>
          </a:solidFill>
          <a:ln/>
        </p:spPr>
        <p:txBody>
          <a:bodyPr wrap="square" lIns="114300" tIns="114300" rIns="114300" bIns="1143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스트레칭 5분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3580790" y="4480560"/>
            <a:ext cx="21991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시간을 다시 설정하지 않고, 실제 행동에 다음 행동을 붙임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922112" y="2340864"/>
            <a:ext cx="347472" cy="347472"/>
          </a:xfrm>
          <a:prstGeom prst="ellipse">
            <a:avLst/>
          </a:prstGeom>
          <a:solidFill>
            <a:srgbClr val="CEF55A"/>
          </a:solidFill>
          <a:ln w="38100">
            <a:solidFill>
              <a:srgbClr val="0A0D12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408" y="2423160"/>
            <a:ext cx="182880" cy="18288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210605" y="1828800"/>
            <a:ext cx="2601468" cy="4160520"/>
          </a:xfrm>
          <a:prstGeom prst="roundRect">
            <a:avLst>
              <a:gd name="adj" fmla="val 6327"/>
            </a:avLst>
          </a:prstGeom>
          <a:solidFill>
            <a:srgbClr val="141820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6411773" y="2048256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Fallback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6411773" y="2331720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행동 · 플랜B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6411773" y="5230368"/>
            <a:ext cx="219913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11773" y="5321808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행동과 플랜B는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개념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6411773" y="2971800"/>
            <a:ext cx="2199132" cy="411480"/>
          </a:xfrm>
          <a:prstGeom prst="roundRect">
            <a:avLst>
              <a:gd name="adj" fmla="val 26667"/>
            </a:avLst>
          </a:prstGeom>
          <a:solidFill>
            <a:srgbClr val="1B2029"/>
          </a:solidFill>
          <a:ln/>
        </p:spPr>
        <p:txBody>
          <a:bodyPr wrap="square" lIns="114300" tIns="114300" rIns="114300" bIns="1143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헬스장 60분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411773" y="3520440"/>
            <a:ext cx="2199132" cy="749808"/>
          </a:xfrm>
          <a:prstGeom prst="roundRect">
            <a:avLst>
              <a:gd name="adj" fmla="val 14634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행동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 15분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행동 축소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411773" y="4361688"/>
            <a:ext cx="2199132" cy="749808"/>
          </a:xfrm>
          <a:prstGeom prst="roundRect">
            <a:avLst>
              <a:gd name="adj" fmla="val 14634"/>
            </a:avLst>
          </a:prstGeom>
          <a:solidFill>
            <a:srgbClr val="1B2029"/>
          </a:solidFill>
          <a:ln w="12700">
            <a:solidFill>
              <a:srgbClr val="CEF55A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플랜B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홈트 20분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행동, 같은 목적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8753094" y="2340864"/>
            <a:ext cx="347472" cy="347472"/>
          </a:xfrm>
          <a:prstGeom prst="ellipse">
            <a:avLst/>
          </a:prstGeom>
          <a:solidFill>
            <a:srgbClr val="CEF55A"/>
          </a:solidFill>
          <a:ln w="38100">
            <a:solidFill>
              <a:srgbClr val="0A0D12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5390" y="2423160"/>
            <a:ext cx="182880" cy="18288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9041587" y="1828800"/>
            <a:ext cx="2601468" cy="4160520"/>
          </a:xfrm>
          <a:prstGeom prst="roundRect">
            <a:avLst>
              <a:gd name="adj" fmla="val 6327"/>
            </a:avLst>
          </a:prstGeom>
          <a:solidFill>
            <a:srgbClr val="141820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9242755" y="2048256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Recovery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9242755" y="2331720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</a:t>
            </a:r>
            <a:endParaRPr lang="en-US" sz="1600" dirty="0"/>
          </a:p>
        </p:txBody>
      </p:sp>
      <p:sp>
        <p:nvSpPr>
          <p:cNvPr id="45" name="Shape 37"/>
          <p:cNvSpPr/>
          <p:nvPr/>
        </p:nvSpPr>
        <p:spPr>
          <a:xfrm>
            <a:off x="9242755" y="5230368"/>
            <a:ext cx="219913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9242755" y="5321808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질책 없이, 다음 기회에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이어가기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9242755" y="2971800"/>
            <a:ext cx="2199132" cy="411480"/>
          </a:xfrm>
          <a:prstGeom prst="roundRect">
            <a:avLst>
              <a:gd name="adj" fmla="val 26667"/>
            </a:avLst>
          </a:prstGeom>
          <a:solidFill>
            <a:srgbClr val="1B2029"/>
          </a:solidFill>
          <a:ln/>
        </p:spPr>
        <p:txBody>
          <a:bodyPr wrap="square" lIns="114300" tIns="114300" rIns="114300" bIns="1143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미실행 · 질책 없음</a:t>
            </a:r>
            <a:endParaRPr lang="en-US" sz="115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0881" y="3429000"/>
            <a:ext cx="182880" cy="18288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9242755" y="3685032"/>
            <a:ext cx="2199132" cy="777240"/>
          </a:xfrm>
          <a:prstGeom prst="roundRect">
            <a:avLst>
              <a:gd name="adj" fmla="val 14118"/>
            </a:avLst>
          </a:prstGeom>
          <a:solidFill>
            <a:srgbClr val="1B2029"/>
          </a:solidFill>
          <a:ln w="12700">
            <a:solidFill>
              <a:srgbClr val="CEF55A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지난번에는 쉬어갔어요.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어떻게 이어갈까요?</a:t>
            </a:r>
            <a:endParaRPr lang="en-US" sz="1150" dirty="0"/>
          </a:p>
        </p:txBody>
      </p:sp>
      <p:sp>
        <p:nvSpPr>
          <p:cNvPr id="50" name="Text 41"/>
          <p:cNvSpPr/>
          <p:nvPr/>
        </p:nvSpPr>
        <p:spPr>
          <a:xfrm>
            <a:off x="9242755" y="4617720"/>
            <a:ext cx="694944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10001707" y="4617720"/>
            <a:ext cx="694944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10760659" y="4617720"/>
            <a:ext cx="694944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이어하루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6382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사용 예시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 루틴 하나로 보는 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1468" cy="4114800"/>
          </a:xfrm>
          <a:prstGeom prst="roundRect">
            <a:avLst>
              <a:gd name="adj" fmla="val 6327"/>
            </a:avLst>
          </a:prstGeom>
          <a:solidFill>
            <a:srgbClr val="14182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" y="2048256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 · 19:00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331720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헬스장 60분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2926080"/>
            <a:ext cx="2199132" cy="822960"/>
          </a:xfrm>
          <a:prstGeom prst="roundRect">
            <a:avLst>
              <a:gd name="adj" fmla="val 13333"/>
            </a:avLst>
          </a:prstGeom>
          <a:solidFill>
            <a:srgbClr val="1B2029"/>
          </a:solidFill>
          <a:ln w="12700">
            <a:solidFill>
              <a:srgbClr val="CEF55A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어떻게 할까요?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9808" y="3913632"/>
            <a:ext cx="681228" cy="274320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495044" y="3913632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15분만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363724" y="3913632"/>
            <a:ext cx="557784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홈트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315968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24128" y="4297680"/>
            <a:ext cx="1924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 완료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024128" y="4590288"/>
            <a:ext cx="19248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“이어서 스트레칭 5분 할까요?” → 시작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49808" y="5230368"/>
            <a:ext cx="219913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49808" y="53949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→ Chain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091129" y="2340864"/>
            <a:ext cx="347472" cy="347472"/>
          </a:xfrm>
          <a:prstGeom prst="ellipse">
            <a:avLst/>
          </a:prstGeom>
          <a:solidFill>
            <a:srgbClr val="CEF55A"/>
          </a:solidFill>
          <a:ln w="38100">
            <a:solidFill>
              <a:srgbClr val="0A0D1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425" y="2423160"/>
            <a:ext cx="182880" cy="1828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379622" y="1828800"/>
            <a:ext cx="2601468" cy="4114800"/>
          </a:xfrm>
          <a:prstGeom prst="roundRect">
            <a:avLst>
              <a:gd name="adj" fmla="val 6327"/>
            </a:avLst>
          </a:prstGeom>
          <a:solidFill>
            <a:srgbClr val="14182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580790" y="2048256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수요일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3580790" y="2331720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야근 발생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3580790" y="2926080"/>
            <a:ext cx="2199132" cy="822960"/>
          </a:xfrm>
          <a:prstGeom prst="roundRect">
            <a:avLst>
              <a:gd name="adj" fmla="val 13333"/>
            </a:avLst>
          </a:prstGeom>
          <a:solidFill>
            <a:srgbClr val="1B2029"/>
          </a:solidFill>
          <a:ln w="12700">
            <a:solidFill>
              <a:srgbClr val="CEF55A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어떻게 할까요?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580790" y="3913632"/>
            <a:ext cx="681228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헬스장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326026" y="3913632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20분만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194706" y="3913632"/>
            <a:ext cx="557784" cy="274320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홈트</a:t>
            </a:r>
            <a:endParaRPr lang="en-US" sz="9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790" y="4315968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855110" y="4297680"/>
            <a:ext cx="1924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플랜B 수행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3855110" y="4590288"/>
            <a:ext cx="19248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미실행으로 끝내지 않음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580790" y="5230368"/>
            <a:ext cx="219913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580790" y="5394960"/>
            <a:ext cx="1453896" cy="292608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922112" y="2340864"/>
            <a:ext cx="347472" cy="347472"/>
          </a:xfrm>
          <a:prstGeom prst="ellipse">
            <a:avLst/>
          </a:prstGeom>
          <a:solidFill>
            <a:srgbClr val="CEF55A"/>
          </a:solidFill>
          <a:ln w="38100">
            <a:solidFill>
              <a:srgbClr val="0A0D12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408" y="2423160"/>
            <a:ext cx="182880" cy="18288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210605" y="1828800"/>
            <a:ext cx="2601468" cy="4114800"/>
          </a:xfrm>
          <a:prstGeom prst="roundRect">
            <a:avLst>
              <a:gd name="adj" fmla="val 6327"/>
            </a:avLst>
          </a:prstGeom>
          <a:solidFill>
            <a:srgbClr val="141820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6411773" y="2048256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금요일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6411773" y="2331720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못 함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6411773" y="2926080"/>
            <a:ext cx="2199132" cy="822960"/>
          </a:xfrm>
          <a:prstGeom prst="roundRect">
            <a:avLst>
              <a:gd name="adj" fmla="val 13333"/>
            </a:avLst>
          </a:prstGeom>
          <a:solidFill>
            <a:srgbClr val="141820"/>
          </a:solidFill>
          <a:ln w="12700">
            <a:solidFill>
              <a:srgbClr val="2A303B"/>
            </a:solidFill>
            <a:prstDash val="dash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653" y="3227832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6942125" y="2926080"/>
            <a:ext cx="15590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질책성 알림 없음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6411773" y="3913632"/>
            <a:ext cx="681228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미실행</a:t>
            </a:r>
            <a:endParaRPr lang="en-US" sz="95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73" y="4315968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686093" y="4297680"/>
            <a:ext cx="1924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미실행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6686093" y="4590288"/>
            <a:ext cx="19248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당일에는 아무 질책도 하지 않음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6411773" y="5230368"/>
            <a:ext cx="219913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6411773" y="53949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처벌 없음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8753094" y="2340864"/>
            <a:ext cx="347472" cy="347472"/>
          </a:xfrm>
          <a:prstGeom prst="ellipse">
            <a:avLst/>
          </a:prstGeom>
          <a:solidFill>
            <a:srgbClr val="CEF55A"/>
          </a:solidFill>
          <a:ln w="38100">
            <a:solidFill>
              <a:srgbClr val="0A0D12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5390" y="2423160"/>
            <a:ext cx="182880" cy="182880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9041587" y="1828800"/>
            <a:ext cx="2601468" cy="4114800"/>
          </a:xfrm>
          <a:prstGeom prst="roundRect">
            <a:avLst>
              <a:gd name="adj" fmla="val 6327"/>
            </a:avLst>
          </a:prstGeom>
          <a:solidFill>
            <a:srgbClr val="1B2029"/>
          </a:solidFill>
          <a:ln w="12700">
            <a:solidFill>
              <a:srgbClr val="CEF55A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9242755" y="2048256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월요일</a:t>
            </a:r>
            <a:endParaRPr lang="en-US" sz="1050" dirty="0"/>
          </a:p>
        </p:txBody>
      </p:sp>
      <p:sp>
        <p:nvSpPr>
          <p:cNvPr id="51" name="Text 41"/>
          <p:cNvSpPr txBox="1"/>
          <p:nvPr/>
        </p:nvSpPr>
        <p:spPr>
          <a:xfrm>
            <a:off x="9242755" y="2331720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미실행 이후</a:t>
            </a:r>
            <a:endParaRPr lang="en-US" sz="1600" dirty="0"/>
          </a:p>
        </p:txBody>
      </p:sp>
      <p:sp>
        <p:nvSpPr>
          <p:cNvPr id="52" name="Text 42"/>
          <p:cNvSpPr/>
          <p:nvPr/>
        </p:nvSpPr>
        <p:spPr>
          <a:xfrm>
            <a:off x="9242755" y="2926080"/>
            <a:ext cx="2199132" cy="822960"/>
          </a:xfrm>
          <a:prstGeom prst="roundRect">
            <a:avLst>
              <a:gd name="adj" fmla="val 13333"/>
            </a:avLst>
          </a:prstGeom>
          <a:solidFill>
            <a:srgbClr val="141820"/>
          </a:solidFill>
          <a:ln w="12700">
            <a:solidFill>
              <a:srgbClr val="CEF55A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지난번에는 쉬어갔어요. 오늘 어떻게 이어갈까요?</a:t>
            </a:r>
            <a:endParaRPr lang="en-US" sz="1150" dirty="0"/>
          </a:p>
        </p:txBody>
      </p:sp>
      <p:sp>
        <p:nvSpPr>
          <p:cNvPr id="53" name="Text 43"/>
          <p:cNvSpPr/>
          <p:nvPr/>
        </p:nvSpPr>
        <p:spPr>
          <a:xfrm>
            <a:off x="9242755" y="3913632"/>
            <a:ext cx="681228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endParaRPr lang="en-US" sz="950" dirty="0"/>
          </a:p>
        </p:txBody>
      </p:sp>
      <p:sp>
        <p:nvSpPr>
          <p:cNvPr id="54" name="Text 44"/>
          <p:cNvSpPr/>
          <p:nvPr/>
        </p:nvSpPr>
        <p:spPr>
          <a:xfrm>
            <a:off x="9987991" y="3913632"/>
            <a:ext cx="557784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</a:t>
            </a:r>
            <a:endParaRPr lang="en-US" sz="950" dirty="0"/>
          </a:p>
        </p:txBody>
      </p:sp>
      <p:sp>
        <p:nvSpPr>
          <p:cNvPr id="55" name="Text 45"/>
          <p:cNvSpPr/>
          <p:nvPr/>
        </p:nvSpPr>
        <p:spPr>
          <a:xfrm>
            <a:off x="10609783" y="3913632"/>
            <a:ext cx="681228" cy="27432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플랜B</a:t>
            </a:r>
            <a:endParaRPr lang="en-US" sz="950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2755" y="4315968"/>
            <a:ext cx="182880" cy="182880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9517075" y="4297680"/>
            <a:ext cx="1924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운동</a:t>
            </a:r>
            <a:endParaRPr lang="en-US" sz="1300" dirty="0"/>
          </a:p>
        </p:txBody>
      </p:sp>
      <p:sp>
        <p:nvSpPr>
          <p:cNvPr id="58" name="Text 47"/>
          <p:cNvSpPr txBox="1"/>
          <p:nvPr/>
        </p:nvSpPr>
        <p:spPr>
          <a:xfrm>
            <a:off x="9517075" y="4590288"/>
            <a:ext cx="19248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끊긴 흐름이 다시 연결됨</a:t>
            </a:r>
            <a:endParaRPr lang="en-US" sz="1050" dirty="0"/>
          </a:p>
        </p:txBody>
      </p:sp>
      <p:sp>
        <p:nvSpPr>
          <p:cNvPr id="59" name="Shape 48"/>
          <p:cNvSpPr/>
          <p:nvPr/>
        </p:nvSpPr>
        <p:spPr>
          <a:xfrm>
            <a:off x="9242755" y="5230368"/>
            <a:ext cx="2199132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60" name="Text 49"/>
          <p:cNvSpPr/>
          <p:nvPr/>
        </p:nvSpPr>
        <p:spPr>
          <a:xfrm>
            <a:off x="9242755" y="5394960"/>
            <a:ext cx="1453896" cy="292608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이어하루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6382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 vs 논의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합의된 것과 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논의할 것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분리합니다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760720" cy="4114800"/>
          </a:xfrm>
          <a:prstGeom prst="roundRect">
            <a:avLst>
              <a:gd name="adj" fmla="val 4000"/>
            </a:avLst>
          </a:prstGeom>
          <a:solidFill>
            <a:srgbClr val="14182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0312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786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유지할 것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3218688"/>
            <a:ext cx="274320" cy="274320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282696"/>
            <a:ext cx="146304" cy="1463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25296" y="3200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플랜B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520440" y="3218688"/>
            <a:ext cx="274320" cy="274320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3282696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922776" y="3200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785616"/>
            <a:ext cx="274320" cy="274320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49624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25296" y="37673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복귀율 (North Star)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520440" y="3785616"/>
            <a:ext cx="274320" cy="274320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3849624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922776" y="37673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스트릭 0 리셋 없음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22960" y="4352544"/>
            <a:ext cx="274320" cy="274320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416552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25296" y="43342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처벌하지 않음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3520440" y="4352544"/>
            <a:ext cx="274320" cy="274320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4416552"/>
            <a:ext cx="146304" cy="14630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922776" y="43342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선택권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822960" y="4919472"/>
            <a:ext cx="274320" cy="274320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983480"/>
            <a:ext cx="146304" cy="146304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225296" y="4901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AI 없이도 성립</a:t>
            </a:r>
            <a:endParaRPr lang="en-US" sz="1300" dirty="0"/>
          </a:p>
        </p:txBody>
      </p:sp>
      <p:sp>
        <p:nvSpPr>
          <p:cNvPr id="31" name="Shape 21"/>
          <p:cNvSpPr/>
          <p:nvPr/>
        </p:nvSpPr>
        <p:spPr>
          <a:xfrm>
            <a:off x="3520440" y="4919472"/>
            <a:ext cx="274320" cy="274320"/>
          </a:xfrm>
          <a:prstGeom prst="ellipse">
            <a:avLst/>
          </a:prstGeom>
          <a:solidFill>
            <a:srgbClr val="1B2029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4448" y="4983480"/>
            <a:ext cx="146304" cy="146304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3922776" y="4901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/ 로컬 중심 방향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822960" y="5349240"/>
            <a:ext cx="5212080" cy="0"/>
          </a:xfrm>
          <a:prstGeom prst="line">
            <a:avLst/>
          </a:prstGeom>
          <a:noFill/>
          <a:ln w="9525">
            <a:solidFill>
              <a:srgbClr val="2A303B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822960" y="5440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복귀율은 기존 기획부터 핵심 지표였고, 현재 기획에서도 North Star로 유지합니다.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6537960" y="1828800"/>
            <a:ext cx="5102352" cy="4114800"/>
          </a:xfrm>
          <a:prstGeom prst="roundRect">
            <a:avLst>
              <a:gd name="adj" fmla="val 4000"/>
            </a:avLst>
          </a:prstGeom>
          <a:solidFill>
            <a:srgbClr val="1B2029"/>
          </a:solidFill>
          <a:ln w="12700">
            <a:solidFill>
              <a:srgbClr val="CEF55A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6812280" y="210312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</a:t>
            </a:r>
            <a:endParaRPr lang="en-US" sz="1050" dirty="0"/>
          </a:p>
        </p:txBody>
      </p:sp>
      <p:sp>
        <p:nvSpPr>
          <p:cNvPr id="38" name="Text 27"/>
          <p:cNvSpPr txBox="1"/>
          <p:nvPr/>
        </p:nvSpPr>
        <p:spPr>
          <a:xfrm>
            <a:off x="6812280" y="2578608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새롭게 논의할 것</a:t>
            </a:r>
            <a:endParaRPr lang="en-US" sz="1800" dirty="0"/>
          </a:p>
        </p:txBody>
      </p:sp>
      <p:sp>
        <p:nvSpPr>
          <p:cNvPr id="39" name="Shape 28"/>
          <p:cNvSpPr/>
          <p:nvPr/>
        </p:nvSpPr>
        <p:spPr>
          <a:xfrm>
            <a:off x="6812280" y="3108960"/>
            <a:ext cx="4553712" cy="0"/>
          </a:xfrm>
          <a:prstGeom prst="line">
            <a:avLst/>
          </a:prstGeom>
          <a:noFill/>
          <a:ln w="9525">
            <a:solidFill>
              <a:srgbClr val="3A424E"/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681228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41" name="Text 30"/>
          <p:cNvSpPr txBox="1"/>
          <p:nvPr/>
        </p:nvSpPr>
        <p:spPr>
          <a:xfrm>
            <a:off x="7360920" y="315468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Chain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6812280" y="3630168"/>
            <a:ext cx="4553712" cy="0"/>
          </a:xfrm>
          <a:prstGeom prst="line">
            <a:avLst/>
          </a:prstGeom>
          <a:noFill/>
          <a:ln w="9525">
            <a:solidFill>
              <a:srgbClr val="3A424E"/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6812280" y="3721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7360920" y="367588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행동</a:t>
            </a:r>
            <a:endParaRPr lang="en-US" sz="1400" dirty="0"/>
          </a:p>
        </p:txBody>
      </p:sp>
      <p:sp>
        <p:nvSpPr>
          <p:cNvPr id="45" name="Shape 34"/>
          <p:cNvSpPr/>
          <p:nvPr/>
        </p:nvSpPr>
        <p:spPr>
          <a:xfrm>
            <a:off x="6812280" y="4151376"/>
            <a:ext cx="4553712" cy="0"/>
          </a:xfrm>
          <a:prstGeom prst="line">
            <a:avLst/>
          </a:prstGeom>
          <a:noFill/>
          <a:ln w="9525">
            <a:solidFill>
              <a:srgbClr val="3A424E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6812280" y="42428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7360920" y="419709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연결률</a:t>
            </a:r>
            <a:endParaRPr lang="en-US" sz="1400" dirty="0"/>
          </a:p>
        </p:txBody>
      </p:sp>
      <p:sp>
        <p:nvSpPr>
          <p:cNvPr id="48" name="Shape 37"/>
          <p:cNvSpPr/>
          <p:nvPr/>
        </p:nvSpPr>
        <p:spPr>
          <a:xfrm>
            <a:off x="6812280" y="4672584"/>
            <a:ext cx="4553712" cy="0"/>
          </a:xfrm>
          <a:prstGeom prst="line">
            <a:avLst/>
          </a:prstGeom>
          <a:noFill/>
          <a:ln w="9525">
            <a:solidFill>
              <a:srgbClr val="3A424E"/>
            </a:solidFill>
            <a:prstDash val="solid"/>
          </a:ln>
        </p:spPr>
      </p:sp>
      <p:sp>
        <p:nvSpPr>
          <p:cNvPr id="49" name="Text 38"/>
          <p:cNvSpPr txBox="1"/>
          <p:nvPr/>
        </p:nvSpPr>
        <p:spPr>
          <a:xfrm>
            <a:off x="6812280" y="4764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50" name="Text 39"/>
          <p:cNvSpPr txBox="1"/>
          <p:nvPr/>
        </p:nvSpPr>
        <p:spPr>
          <a:xfrm>
            <a:off x="7360920" y="4718304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Routine Trainer</a:t>
            </a:r>
            <a:endParaRPr lang="en-US" sz="1400" dirty="0"/>
          </a:p>
        </p:txBody>
      </p:sp>
      <p:sp>
        <p:nvSpPr>
          <p:cNvPr id="51" name="Shape 40"/>
          <p:cNvSpPr/>
          <p:nvPr/>
        </p:nvSpPr>
        <p:spPr>
          <a:xfrm>
            <a:off x="6812280" y="5193792"/>
            <a:ext cx="4553712" cy="0"/>
          </a:xfrm>
          <a:prstGeom prst="line">
            <a:avLst/>
          </a:prstGeom>
          <a:noFill/>
          <a:ln w="9525">
            <a:solidFill>
              <a:srgbClr val="3A424E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6812280" y="5285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53" name="Text 42"/>
          <p:cNvSpPr txBox="1"/>
          <p:nvPr/>
        </p:nvSpPr>
        <p:spPr>
          <a:xfrm>
            <a:off x="7360920" y="5239512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전체 흐름까지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책임을 확장할지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이어하루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6382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3A42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5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3A42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결정할 것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안건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4069080" cy="3017520"/>
          </a:xfrm>
          <a:prstGeom prst="roundRect">
            <a:avLst>
              <a:gd name="adj" fmla="val 6061"/>
            </a:avLst>
          </a:prstGeom>
          <a:solidFill>
            <a:srgbClr val="C9F4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3200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이어하루가 어디까지</a:t>
            </a:r>
            <a:endParaRPr lang="en-US" sz="1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행동을 도울 것인가?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97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복귀만 도울 것인지,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→ 연결 → 대체 → 복귀까지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전체를 도울 것인지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257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방향을 결정하고,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단계에서 요구사항 명세서를 작성한다.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37760" y="548640"/>
            <a:ext cx="6702552" cy="987552"/>
          </a:xfrm>
          <a:prstGeom prst="roundRect">
            <a:avLst>
              <a:gd name="adj" fmla="val 14815"/>
            </a:avLst>
          </a:prstGeom>
          <a:solidFill>
            <a:srgbClr val="141820"/>
          </a:solidFill>
          <a:ln/>
        </p:spPr>
      </p:sp>
      <p:sp>
        <p:nvSpPr>
          <p:cNvPr id="12" name="Shape 9"/>
          <p:cNvSpPr/>
          <p:nvPr/>
        </p:nvSpPr>
        <p:spPr>
          <a:xfrm>
            <a:off x="5138928" y="813816"/>
            <a:ext cx="457200" cy="457200"/>
          </a:xfrm>
          <a:prstGeom prst="ellipse">
            <a:avLst/>
          </a:prstGeom>
          <a:solidFill>
            <a:srgbClr val="CEF55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138928" y="813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779008" y="6949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제품의 범위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779008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어디까지 할 것인가?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863840" y="694944"/>
            <a:ext cx="1732788" cy="694944"/>
          </a:xfrm>
          <a:prstGeom prst="roundRect">
            <a:avLst>
              <a:gd name="adj" fmla="val 15789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무너진 뒤 복귀시키는 앱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706356" y="694944"/>
            <a:ext cx="1732788" cy="694944"/>
          </a:xfrm>
          <a:prstGeom prst="roundRect">
            <a:avLst>
              <a:gd name="adj" fmla="val 15789"/>
            </a:avLst>
          </a:prstGeom>
          <a:solidFill>
            <a:srgbClr val="1B2029"/>
          </a:solidFill>
          <a:ln w="12700">
            <a:solidFill>
              <a:srgbClr val="CEF55A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→ 이어주고 → 복귀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1645920"/>
            <a:ext cx="6702552" cy="987552"/>
          </a:xfrm>
          <a:prstGeom prst="roundRect">
            <a:avLst>
              <a:gd name="adj" fmla="val 14815"/>
            </a:avLst>
          </a:prstGeom>
          <a:solidFill>
            <a:srgbClr val="141820"/>
          </a:solidFill>
          <a:ln/>
        </p:spPr>
      </p:sp>
      <p:sp>
        <p:nvSpPr>
          <p:cNvPr id="19" name="Shape 16"/>
          <p:cNvSpPr/>
          <p:nvPr/>
        </p:nvSpPr>
        <p:spPr>
          <a:xfrm>
            <a:off x="5138928" y="1911096"/>
            <a:ext cx="457200" cy="457200"/>
          </a:xfrm>
          <a:prstGeom prst="ellipse">
            <a:avLst/>
          </a:prstGeom>
          <a:solidFill>
            <a:srgbClr val="CEF55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3892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779008" y="17922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Chain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779008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차별점으로 가져갈 것인가?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863840" y="1847088"/>
            <a:ext cx="3575304" cy="585216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12700">
            <a:solidFill>
              <a:srgbClr val="CEF55A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A 완료 → 행동 B 제안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937760" y="2743200"/>
            <a:ext cx="6702552" cy="987552"/>
          </a:xfrm>
          <a:prstGeom prst="roundRect">
            <a:avLst>
              <a:gd name="adj" fmla="val 14815"/>
            </a:avLst>
          </a:prstGeom>
          <a:solidFill>
            <a:srgbClr val="141820"/>
          </a:solidFill>
          <a:ln/>
        </p:spPr>
      </p:sp>
      <p:sp>
        <p:nvSpPr>
          <p:cNvPr id="25" name="Shape 22"/>
          <p:cNvSpPr/>
          <p:nvPr/>
        </p:nvSpPr>
        <p:spPr>
          <a:xfrm>
            <a:off x="5138928" y="3008376"/>
            <a:ext cx="457200" cy="457200"/>
          </a:xfrm>
          <a:prstGeom prst="ellipse">
            <a:avLst/>
          </a:prstGeom>
          <a:solidFill>
            <a:srgbClr val="CEF55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138928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779008" y="28895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행동 vs 플랜B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779008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둘을 구분할 것인가?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863840" y="2889504"/>
            <a:ext cx="1732788" cy="694944"/>
          </a:xfrm>
          <a:prstGeom prst="roundRect">
            <a:avLst>
              <a:gd name="adj" fmla="val 15789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행동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행동 축소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706356" y="2889504"/>
            <a:ext cx="1732788" cy="694944"/>
          </a:xfrm>
          <a:prstGeom prst="roundRect">
            <a:avLst>
              <a:gd name="adj" fmla="val 15789"/>
            </a:avLst>
          </a:prstGeom>
          <a:solidFill>
            <a:srgbClr val="1B2029"/>
          </a:solidFill>
          <a:ln w="12700">
            <a:solidFill>
              <a:srgbClr val="CEF55A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플랜B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행동, 같은 목적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937760" y="3840480"/>
            <a:ext cx="6702552" cy="987552"/>
          </a:xfrm>
          <a:prstGeom prst="roundRect">
            <a:avLst>
              <a:gd name="adj" fmla="val 14815"/>
            </a:avLst>
          </a:prstGeom>
          <a:solidFill>
            <a:srgbClr val="141820"/>
          </a:solidFill>
          <a:ln/>
        </p:spPr>
      </p:sp>
      <p:sp>
        <p:nvSpPr>
          <p:cNvPr id="32" name="Shape 29"/>
          <p:cNvSpPr/>
          <p:nvPr/>
        </p:nvSpPr>
        <p:spPr>
          <a:xfrm>
            <a:off x="5138928" y="4105656"/>
            <a:ext cx="457200" cy="457200"/>
          </a:xfrm>
          <a:prstGeom prst="ellipse">
            <a:avLst/>
          </a:prstGeom>
          <a:solidFill>
            <a:srgbClr val="CEF55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138928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5779008" y="3986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앱의 역할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779008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수준까지 계획 수정에 개입할 것인가?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863840" y="4151376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732520" y="4151376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트레이너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9829800" y="41513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EF55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제안형 트레이너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937760" y="4937760"/>
            <a:ext cx="6702552" cy="987552"/>
          </a:xfrm>
          <a:prstGeom prst="roundRect">
            <a:avLst>
              <a:gd name="adj" fmla="val 14815"/>
            </a:avLst>
          </a:prstGeom>
          <a:solidFill>
            <a:srgbClr val="141820"/>
          </a:solidFill>
          <a:ln/>
        </p:spPr>
      </p:sp>
      <p:sp>
        <p:nvSpPr>
          <p:cNvPr id="40" name="Shape 37"/>
          <p:cNvSpPr/>
          <p:nvPr/>
        </p:nvSpPr>
        <p:spPr>
          <a:xfrm>
            <a:off x="5138928" y="5202936"/>
            <a:ext cx="457200" cy="457200"/>
          </a:xfrm>
          <a:prstGeom prst="ellipse">
            <a:avLst/>
          </a:prstGeom>
          <a:solidFill>
            <a:srgbClr val="CEF55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138928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779008" y="50840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우선순위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5779008" y="5394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Calendar-first인가, Behavior-first인가?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3840" y="5084064"/>
            <a:ext cx="1732788" cy="694944"/>
          </a:xfrm>
          <a:prstGeom prst="roundRect">
            <a:avLst>
              <a:gd name="adj" fmla="val 15789"/>
            </a:avLst>
          </a:prstGeom>
          <a:solidFill>
            <a:srgbClr val="1B2029"/>
          </a:solidFill>
          <a:ln w="12700">
            <a:solidFill>
              <a:srgbClr val="2A303B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+ 목록 + 플랜B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706356" y="5084064"/>
            <a:ext cx="1732788" cy="694944"/>
          </a:xfrm>
          <a:prstGeom prst="roundRect">
            <a:avLst>
              <a:gd name="adj" fmla="val 15789"/>
            </a:avLst>
          </a:prstGeom>
          <a:solidFill>
            <a:srgbClr val="1B2029"/>
          </a:solidFill>
          <a:ln w="12700">
            <a:solidFill>
              <a:srgbClr val="CEF55A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EF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Behavior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→ Chain → Fallback → Recovery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이어하루 - 제품 방향 회의</dc:title>
  <dc:subject>PptxGenJS Presentation</dc:subject>
  <dc:creator>이어하루</dc:creator>
  <cp:lastModifiedBy>이어하루</cp:lastModifiedBy>
  <cp:revision>1</cp:revision>
  <dcterms:created xsi:type="dcterms:W3CDTF">2026-09-20T04:56:03Z</dcterms:created>
  <dcterms:modified xsi:type="dcterms:W3CDTF">2026-09-20T04:56:03Z</dcterms:modified>
</cp:coreProperties>
</file>